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FA9375C-4C12-41E0-8A3E-6199B5BEDC28}">
  <a:tblStyle styleId="{2FA9375C-4C12-41E0-8A3E-6199B5BEDC2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e0302c96e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e0302c96e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e0302c96e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e0302c96e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0302c96e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0302c96e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0302c96e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0302c96e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e0302c96e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e0302c96e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e0302c96e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e0302c96e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e0302c96ef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e0302c96e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e0302c96ef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e0302c96e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e0302c96ef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e0302c96e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e0302c96ef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e0302c96ef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0302c96ef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0302c96ef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e0302c96ef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e0302c96ef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e0302c96ef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e0302c96ef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e0302c96ef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e0302c96ef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e0302c96ef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e0302c96e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e0302c96ef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e0302c96ef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e0302c96ef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e0302c96ef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e0302c96ef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e0302c96ef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e0302c96ef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e0302c96ef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e0302c96ef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e0302c96ef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e0302c96ef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e0302c96ef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e0302c96ef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e0302c96ef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e0302c96ef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e0302c96ef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e0302c96ef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e0302c96ef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e0302c96ef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e0302c96ef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e0302c96ef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e0302c96ef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e0302c96ef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e0302c96ef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e0302c96ef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e0302c96ef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e0302c96ef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e0302c96ef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e0302c96ef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e0302c96ef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e0302c96ef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e0302c96ef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e04c63a1a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e04c63a1a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e04c63a1a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e04c63a1a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e04c63a1a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e04c63a1a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e04c63a1a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e04c63a1a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e04c63a1a2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e04c63a1a2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e04c63a1a2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2e04c63a1a2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mailto:root@root.com" TargetMode="External"/><Relationship Id="rId4" Type="http://schemas.openxmlformats.org/officeDocument/2006/relationships/hyperlink" Target="mailto:root@root.com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Testiranje </a:t>
            </a:r>
            <a:r>
              <a:rPr lang="en"/>
              <a:t>softvera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V7 - E2E testiranje, Selenium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E2E Testiranje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End-to-End</a:t>
            </a:r>
            <a:r>
              <a:rPr lang="en" sz="1600"/>
              <a:t> testiranje je metodologija koja se koristi u životnom ciklusu</a:t>
            </a:r>
            <a:br>
              <a:rPr lang="en" sz="1600"/>
            </a:br>
            <a:r>
              <a:rPr lang="en" sz="1600"/>
              <a:t>razvoja softvera kako bi se testirale funkcionalnosti i performanse</a:t>
            </a:r>
            <a:br>
              <a:rPr lang="en" sz="1600"/>
            </a:br>
            <a:r>
              <a:rPr lang="en" sz="1600"/>
              <a:t>aplikacije u okolnostima koje su što sličnije produkcionim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Cilj je simulirati korisnički scenario korišćenja aplikacije od početka do kraja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Pored toga što se validira rad sistema koji se testira, potrebno je osigurati i da svi podsistemi u okviru aplikacije funkcionišu ispravno (softver, hardver, mreža, baze podataka itd.)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316952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/>
          <p:nvPr/>
        </p:nvSpPr>
        <p:spPr>
          <a:xfrm>
            <a:off x="82700" y="68925"/>
            <a:ext cx="3251100" cy="1164900"/>
          </a:xfrm>
          <a:prstGeom prst="flowChartMagneticTap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Google often suggests a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70/20/10 split: 70% unit tests,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20% integration tests, and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10% end-to-end tests.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shape.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Kako pisati E2E testove?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Kada je reč o dizajniranju i pisanju E2E testova, treba voditi računa o 3 stvari: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Kreiranju korisničkih funkcija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Kreiranju uslova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Kreiranju test slučajeva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Kako pisati E2E testove?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Kreiranje </a:t>
            </a:r>
            <a:r>
              <a:rPr b="1" lang="en"/>
              <a:t>korisničkih funkcija (user functions)</a:t>
            </a:r>
            <a:r>
              <a:rPr lang="en"/>
              <a:t> obuhvata sledeće korake: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Navođenje svih funkcionalnosti unutar sistema i povezanih podsistema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Navođenje ulaznih podataka za svaku od funkcionalnosti, akcija	 unutar njih, kao i izlaza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Uočavanje veza između korisničkih funkcija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Određivanje da li je funkcija nezavisna ili zavisna od ostatka sistema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Kako pisati E2E testove?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Primer scenarija: logovanje na korisnički nalog unutar sistema banke, prebacivanje novca na račun unutar neke druge banke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Logovanje na sistem banke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Provera trenutnog stanja na računu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Prenos novca na račun druge banke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Provera stanja na računu nakon transakcije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Izlaz iz aplikacije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Kako pisati E2E testove?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Kreiranje uslova</a:t>
            </a:r>
            <a:r>
              <a:rPr lang="en"/>
              <a:t> na osnovu korisničkih funkcija obuhvata sledeće korake: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Kreiranje skupa uslova za svaku od definisanih korisničkih funkcija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Definisanje sekvenci, vremenski i datumskih odrednica za svaki uslov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Kako pisati E2E testove?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Primer scenarija: logovanje na korisnički nalog unutar sistema banke, prebacivanje novca na račun unutar neke druge banke: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Login stranica: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Nevalidni kredencijali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Validni kredencijali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Provera “snage” lozinke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Provera poruka o greškama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Stranica sa stanjem na računu: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Pokušaj slanja na neispravan račun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Provera poruka o grešci ukoliko je iznos za transfer </a:t>
            </a:r>
            <a:br>
              <a:rPr lang="en"/>
            </a:br>
            <a:r>
              <a:rPr lang="en"/>
              <a:t>veći od trenutnog stanja na računu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Kako pisati E2E testove?	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Kreiranje test slučajeva</a:t>
            </a:r>
            <a:r>
              <a:rPr lang="en"/>
              <a:t> vrši se izvođenjem test scenarija korišćenjem različitih uslova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Razlike u odnosu na druge vidove testiranja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Razlike između E2E i ostalih načina testiranja: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Kod jediničnog ili integracionog testiranja testing framework igra ulogu softvera koji pokreće kod koji se testira. Testing framework poziva funkcije koje se testiraju i čeka završetak njihovog izvršavanja. Framework je svestan koda koji se testira.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Kod E2E testiranja testing framework igra ulogu korisnika koji vrši interakciju sa softverom (klik na ekran, unos teksta, čekanje promene na ekranu)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Prednosti E2E testiranja</a:t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152475"/>
            <a:ext cx="8520600" cy="37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Izvršeno E2E testiranje doprinosi spremnosti softvera za fazu produkcije i smanjuje rizik od naknadnih grešaka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Proces je od ključnog značaja iz više razloga: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Potvrđuje “zdravlje” aplikacije</a:t>
            </a:r>
            <a:r>
              <a:rPr lang="en"/>
              <a:t> - E2E testiranje validira funkcionisanje softvera na više nivoa (od front-end do back-end nivoa), kao i performanse u različitim okruženjima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Proširuje pokrivenost testovima</a:t>
            </a:r>
            <a:r>
              <a:rPr lang="en"/>
              <a:t> - uključivanjem različitih podsistema u proces testiranja efikasno se proširuje pokrivenost testovima i kreiraju se dodatni test slučajevi koji možda prvobitno nisu bili razmotreni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Otkriva greške i povećava produktivnost aplikacije</a:t>
            </a:r>
            <a:r>
              <a:rPr lang="en"/>
              <a:t> - u E2E tetsiranju softver se najčešće ispituje nakon svake iteracije, čime se smanjuje mogućnost prelaska greške u produkcionu verziju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Smanjuje napore i troškove testiranja</a:t>
            </a:r>
            <a:r>
              <a:rPr lang="en"/>
              <a:t> - sa manjim brojem grešaka i sveobuhvatnim testiranjem svakog koraka, E2E testiranje smanjuje potrebu za ponovnim testovima, a samim tim i smanjenjem troškova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Selenium</a:t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Selenium je besplatan, open-source alat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Koristi za automatsko testiranje web aplikacija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Poseduje mogućnost izvršavanja na različitim browser-ima, operativnim sistemima i programskim jezicima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Podržava različite programerske jezike, uključujući Java, Python, JavaScript (kroz Selenium WebDriverJS), C#, Ruby i druge, što omogućava razvoj testova u jeziku koji je najprikladniji za tim ili projekat.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Selenium</a:t>
            </a:r>
            <a:endParaRPr/>
          </a:p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Glavne komponente Selenium alata uključuju:</a:t>
            </a:r>
            <a:endParaRPr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AutoNum type="arabicPeriod"/>
            </a:pPr>
            <a:r>
              <a:rPr b="1" lang="en" sz="1600"/>
              <a:t>Selenium WebDriver</a:t>
            </a:r>
            <a:r>
              <a:rPr lang="en" sz="1600"/>
              <a:t>: Ovo je ključna komponenta Selenium-a koja omogućava komunikaciju sa veb pregledačima. WebDriver pruža API za upravljanje veb pregledačima i izvršavanje korisničkih akcija na veb stranicama, kao što su klikovi, unosi teksta i navigacija.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en" sz="1600"/>
              <a:t>Selenium Grid</a:t>
            </a:r>
            <a:r>
              <a:rPr lang="en" sz="1600"/>
              <a:t>: Ovo je dodatna komponenta Selenium-a koja omogućava paralelno izvršavanje testova na različitim kombinacijama veb pregledača i operativnih sistema. Selenium Grid se koristi za distribuiranje testova na više uređaja radi ubrzanja procesa testiranja.</a:t>
            </a:r>
            <a:endParaRPr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5925" y="595313"/>
            <a:ext cx="5772150" cy="395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Prednosti Selenium-a</a:t>
            </a:r>
            <a:endParaRPr/>
          </a:p>
        </p:txBody>
      </p:sp>
      <p:sp>
        <p:nvSpPr>
          <p:cNvPr id="138" name="Google Shape;13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Univerzalnost</a:t>
            </a:r>
            <a:r>
              <a:rPr lang="en"/>
              <a:t>: Može se koristiti za testiranje veb aplikacija napisanih u različitim tehnologijama, kao što su HTML, JavaScript, PHP, ASP.NET i druge.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Fleksibilnost</a:t>
            </a:r>
            <a:r>
              <a:rPr lang="en"/>
              <a:t>: Omogućava detaljnu kontrolu nad korisničkim interakcijama i navigacijom na veb stranicama.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Podrška za različite veb </a:t>
            </a:r>
            <a:r>
              <a:rPr b="1" lang="en"/>
              <a:t>petraživače</a:t>
            </a:r>
            <a:r>
              <a:rPr lang="en"/>
              <a:t>: Selenium podržava većinu popularnih veb pregledača, uključujući Chrome, Firefox, Edge, Safari i Opera.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Paralelno izvršavanje</a:t>
            </a:r>
            <a:r>
              <a:rPr lang="en"/>
              <a:t>: Selenium Grid omogućava paralelno izvršavanje testova na više uređaja, što može ubrzati proces testiranja.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9975" y="152400"/>
            <a:ext cx="5641582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8"/>
          <p:cNvSpPr txBox="1"/>
          <p:nvPr/>
        </p:nvSpPr>
        <p:spPr>
          <a:xfrm>
            <a:off x="197575" y="349225"/>
            <a:ext cx="2837400" cy="12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Primer Selenium</a:t>
            </a:r>
            <a:br>
              <a:rPr lang="en" sz="2800">
                <a:solidFill>
                  <a:schemeClr val="dk1"/>
                </a:solidFill>
              </a:rPr>
            </a:br>
            <a:r>
              <a:rPr lang="en" sz="2800">
                <a:solidFill>
                  <a:schemeClr val="dk1"/>
                </a:solidFill>
              </a:rPr>
              <a:t>testa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Selenium WebDriver</a:t>
            </a:r>
            <a:endParaRPr/>
          </a:p>
        </p:txBody>
      </p:sp>
      <p:sp>
        <p:nvSpPr>
          <p:cNvPr id="150" name="Google Shape;150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Selenium Web Driver</a:t>
            </a:r>
            <a:r>
              <a:rPr lang="en"/>
              <a:t> predstavlja jednu od najvažnijih komponenti Selenium Tool Suite-a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Poznatiji je pod nazivom Selenium 2.0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Poseduje ugrađenu podršku za Firefox, dok je za druge browser-e potrebno omogućiti odgovarajuće driver-e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Selenium Web Driver API omogućava komunikaciju između programskog jezika i browser-a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Java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.Net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PHP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Python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Ruby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Webdriver arhitektura</a:t>
            </a:r>
            <a:endParaRPr/>
          </a:p>
        </p:txBody>
      </p:sp>
      <p:pic>
        <p:nvPicPr>
          <p:cNvPr id="156" name="Google Shape;15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6350" y="1227575"/>
            <a:ext cx="6001089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30"/>
          <p:cNvSpPr txBox="1"/>
          <p:nvPr/>
        </p:nvSpPr>
        <p:spPr>
          <a:xfrm>
            <a:off x="5114225" y="774275"/>
            <a:ext cx="1838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80000"/>
                </a:solidFill>
                <a:highlight>
                  <a:schemeClr val="lt1"/>
                </a:highlight>
              </a:rPr>
              <a:t>Driver prima poruke u</a:t>
            </a:r>
            <a:endParaRPr sz="1000">
              <a:solidFill>
                <a:srgbClr val="980000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80000"/>
                </a:solidFill>
                <a:highlight>
                  <a:schemeClr val="lt1"/>
                </a:highlight>
              </a:rPr>
              <a:t>JSON-u I prosleđuje ih</a:t>
            </a:r>
            <a:endParaRPr sz="1000">
              <a:solidFill>
                <a:srgbClr val="980000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80000"/>
                </a:solidFill>
                <a:highlight>
                  <a:schemeClr val="lt1"/>
                </a:highlight>
              </a:rPr>
              <a:t>konkretnom browser-u</a:t>
            </a:r>
            <a:endParaRPr sz="1000">
              <a:solidFill>
                <a:srgbClr val="980000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8" name="Google Shape;158;p30"/>
          <p:cNvSpPr txBox="1"/>
          <p:nvPr/>
        </p:nvSpPr>
        <p:spPr>
          <a:xfrm>
            <a:off x="3092450" y="1635800"/>
            <a:ext cx="16773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80000"/>
                </a:solidFill>
              </a:rPr>
              <a:t>JavaScript Object</a:t>
            </a:r>
            <a:endParaRPr sz="10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80000"/>
                </a:solidFill>
              </a:rPr>
              <a:t>Notation. Prebacuje</a:t>
            </a:r>
            <a:endParaRPr sz="10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80000"/>
                </a:solidFill>
              </a:rPr>
              <a:t>informacije do browser-a</a:t>
            </a:r>
            <a:endParaRPr sz="10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80000"/>
                </a:solidFill>
              </a:rPr>
              <a:t>putem HTTP protokola.</a:t>
            </a:r>
            <a:endParaRPr sz="10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9" name="Google Shape;159;p30"/>
          <p:cNvSpPr txBox="1"/>
          <p:nvPr/>
        </p:nvSpPr>
        <p:spPr>
          <a:xfrm>
            <a:off x="1326350" y="3678750"/>
            <a:ext cx="1838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80000"/>
                </a:solidFill>
              </a:rPr>
              <a:t>Podrška za različite</a:t>
            </a:r>
            <a:endParaRPr sz="10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80000"/>
                </a:solidFill>
              </a:rPr>
              <a:t>programske jezike unutar</a:t>
            </a:r>
            <a:endParaRPr sz="10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80000"/>
                </a:solidFill>
              </a:rPr>
              <a:t>Seleniuma. Jednom kada</a:t>
            </a:r>
            <a:endParaRPr sz="10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80000"/>
                </a:solidFill>
              </a:rPr>
              <a:t>se pokrenuti test</a:t>
            </a:r>
            <a:endParaRPr sz="10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80000"/>
                </a:solidFill>
              </a:rPr>
              <a:t>slučajevi, Selenium kod</a:t>
            </a:r>
            <a:endParaRPr sz="10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80000"/>
                </a:solidFill>
              </a:rPr>
              <a:t>biva transformisan u</a:t>
            </a:r>
            <a:endParaRPr sz="10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80000"/>
                </a:solidFill>
              </a:rPr>
              <a:t>JSON</a:t>
            </a:r>
            <a:endParaRPr sz="10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Osnovne karakteristike</a:t>
            </a:r>
            <a:endParaRPr/>
          </a:p>
        </p:txBody>
      </p:sp>
      <p:sp>
        <p:nvSpPr>
          <p:cNvPr id="165" name="Google Shape;165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Osnovne karakteristike Selenium Web Driver-a: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Omogućava podršku za različite web browser-e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 Chrome, Firefox, Opera, Safari, Internet Explorer…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Omogućava podršku za različite programske jezike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Windows, Mac, Linux, Unix…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Brzina (obraća se direktno browser-u)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Jednostavne komande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Instalacija Selenium</a:t>
            </a:r>
            <a:endParaRPr/>
          </a:p>
        </p:txBody>
      </p:sp>
      <p:sp>
        <p:nvSpPr>
          <p:cNvPr id="171" name="Google Shape;171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Za rad sa Selenium-om u Python-u neophodno je instalirati dva paketa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</a:t>
            </a:r>
            <a:r>
              <a:rPr b="1" lang="en"/>
              <a:t>ip install selenium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pip install chromedriver-autoinstaller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 vežbama Selenium koristimo zajedno u kombinaciji sa </a:t>
            </a:r>
            <a:r>
              <a:rPr b="1" lang="en"/>
              <a:t>pytestom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Pytest i neophodne informacije za njegovu instalaciju se nalaze u </a:t>
            </a:r>
            <a:r>
              <a:rPr b="1" lang="en"/>
              <a:t>V4</a:t>
            </a:r>
            <a:r>
              <a:rPr lang="en"/>
              <a:t> prezentaciji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3"/>
          <p:cNvSpPr txBox="1"/>
          <p:nvPr>
            <p:ph type="title"/>
          </p:nvPr>
        </p:nvSpPr>
        <p:spPr>
          <a:xfrm>
            <a:off x="311700" y="146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Komande</a:t>
            </a:r>
            <a:endParaRPr/>
          </a:p>
        </p:txBody>
      </p:sp>
      <p:graphicFrame>
        <p:nvGraphicFramePr>
          <p:cNvPr id="177" name="Google Shape;177;p33"/>
          <p:cNvGraphicFramePr/>
          <p:nvPr/>
        </p:nvGraphicFramePr>
        <p:xfrm>
          <a:off x="311700" y="719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{2FA9375C-4C12-41E0-8A3E-6199B5BEDC28}</a:tableStyleId>
              </a:tblPr>
              <a:tblGrid>
                <a:gridCol w="4260300"/>
                <a:gridCol w="4260300"/>
              </a:tblGrid>
              <a:tr h="336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Komanda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Opis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36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browser.get(“URL”)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To navigate to an application page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51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element.send_keys(“Text”)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To send text into input box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51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element.clear()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Remove text from input box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51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select.deselect_all()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Deselect all OPTIONs from the first SELECT on the page.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51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select.select_by_visible_text(“Some text”)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Select the OPTION with the input specified by the user.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51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browser.switch_to.window(“Window name”)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Move the focus from one window to another.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51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browser.switch_to.frame(“Frame name”)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Swing from frame to frame.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51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browser.switch_to.alert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Helps in handling alerts.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51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browser.forward()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To navigate forward.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51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browser.back()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To navigate back.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51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browser.close()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Closes the current browser associated with the driver.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2" name="Google Shape;182;p34"/>
          <p:cNvGraphicFramePr/>
          <p:nvPr/>
        </p:nvGraphicFramePr>
        <p:xfrm>
          <a:off x="311700" y="719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{2FA9375C-4C12-41E0-8A3E-6199B5BEDC28}</a:tableStyleId>
              </a:tblPr>
              <a:tblGrid>
                <a:gridCol w="4260300"/>
                <a:gridCol w="4260300"/>
              </a:tblGrid>
              <a:tr h="336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Komanda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Opis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36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browser.quit()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Quits the driver and closes all the associated window of that driver.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36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browser.refresh()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Refreshes the current page.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36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browser.find_element(selector_type, value)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Find </a:t>
                      </a:r>
                      <a:r>
                        <a:rPr b="1" lang="en" sz="1000"/>
                        <a:t>ONE</a:t>
                      </a:r>
                      <a:r>
                        <a:rPr lang="en" sz="1000"/>
                        <a:t> element by selector_type(ID, NAME, XPATH, LINK_TEXT, PARTIAL_LINK_TEXT, TAG_NAME, CLASS_NAME, CSS_SELECOR), second parameter is value of specific selector.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36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browser.find_elements(selector_type, value)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Find </a:t>
                      </a: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LIST of 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 elements by selector_type(ID, NAME, XPATH, LINK_TEXT, PARTIAL_LINK_TEXT, TAG_NAME, CLASS_NAME, CSS_SELECOR), second parameter is value of specific selector.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Lokatori</a:t>
            </a:r>
            <a:endParaRPr/>
          </a:p>
        </p:txBody>
      </p:sp>
      <p:sp>
        <p:nvSpPr>
          <p:cNvPr id="188" name="Google Shape;188;p35"/>
          <p:cNvSpPr txBox="1"/>
          <p:nvPr>
            <p:ph idx="1" type="body"/>
          </p:nvPr>
        </p:nvSpPr>
        <p:spPr>
          <a:xfrm>
            <a:off x="311700" y="1152475"/>
            <a:ext cx="8520600" cy="16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Jedna od najvažnijih stvari u korišćenju WebDriver-a je pronalaženje elemenata na stranici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Koriste se metode od </a:t>
            </a:r>
            <a:endParaRPr b="1"/>
          </a:p>
          <a:p>
            <a:pPr indent="-297497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b="1" lang="en"/>
              <a:t>find_element </a:t>
            </a:r>
            <a:endParaRPr b="1"/>
          </a:p>
          <a:p>
            <a:pPr indent="-297497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b="1" lang="en"/>
              <a:t>Find_elements</a:t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Ispod se nalazi primer korišćenja lokatora</a:t>
            </a:r>
            <a:endParaRPr/>
          </a:p>
        </p:txBody>
      </p:sp>
      <p:pic>
        <p:nvPicPr>
          <p:cNvPr id="189" name="Google Shape;18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877" y="2796175"/>
            <a:ext cx="6970847" cy="103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9627" y="303400"/>
            <a:ext cx="6970847" cy="103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6"/>
          <p:cNvSpPr txBox="1"/>
          <p:nvPr/>
        </p:nvSpPr>
        <p:spPr>
          <a:xfrm>
            <a:off x="944275" y="1739175"/>
            <a:ext cx="76965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U datom primeru koristi se </a:t>
            </a:r>
            <a:r>
              <a:rPr b="1" lang="en" sz="1600">
                <a:solidFill>
                  <a:schemeClr val="dk2"/>
                </a:solidFill>
              </a:rPr>
              <a:t>metoda</a:t>
            </a:r>
            <a:r>
              <a:rPr lang="en" sz="1600">
                <a:solidFill>
                  <a:schemeClr val="dk2"/>
                </a:solidFill>
              </a:rPr>
              <a:t> od instance </a:t>
            </a:r>
            <a:r>
              <a:rPr b="1" lang="en" sz="1600">
                <a:solidFill>
                  <a:schemeClr val="dk2"/>
                </a:solidFill>
              </a:rPr>
              <a:t>WebDrivera </a:t>
            </a:r>
            <a:r>
              <a:rPr lang="en" sz="1600">
                <a:solidFill>
                  <a:schemeClr val="dk2"/>
                </a:solidFill>
              </a:rPr>
              <a:t>(</a:t>
            </a:r>
            <a:r>
              <a:rPr lang="en" sz="1600">
                <a:solidFill>
                  <a:schemeClr val="dk2"/>
                </a:solidFill>
              </a:rPr>
              <a:t>browser</a:t>
            </a:r>
            <a:r>
              <a:rPr lang="en" sz="1600">
                <a:solidFill>
                  <a:schemeClr val="dk2"/>
                </a:solidFill>
              </a:rPr>
              <a:t> promenljiva)</a:t>
            </a:r>
            <a:endParaRPr sz="1600">
              <a:solidFill>
                <a:schemeClr val="dk2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</a:pPr>
            <a:r>
              <a:rPr b="1" lang="en" sz="1600">
                <a:solidFill>
                  <a:schemeClr val="dk2"/>
                </a:solidFill>
              </a:rPr>
              <a:t>f</a:t>
            </a:r>
            <a:r>
              <a:rPr b="1" lang="en" sz="1600">
                <a:solidFill>
                  <a:schemeClr val="dk2"/>
                </a:solidFill>
              </a:rPr>
              <a:t>ind_element</a:t>
            </a:r>
            <a:r>
              <a:rPr lang="en" sz="1600">
                <a:solidFill>
                  <a:schemeClr val="dk2"/>
                </a:solidFill>
              </a:rPr>
              <a:t> - koja prima 2 argumenta</a:t>
            </a:r>
            <a:endParaRPr sz="1600">
              <a:solidFill>
                <a:schemeClr val="dk2"/>
              </a:solidFill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</a:pPr>
            <a:r>
              <a:rPr b="1" lang="en" sz="1600">
                <a:solidFill>
                  <a:schemeClr val="dk2"/>
                </a:solidFill>
              </a:rPr>
              <a:t>tip</a:t>
            </a:r>
            <a:r>
              <a:rPr lang="en" sz="1600">
                <a:solidFill>
                  <a:schemeClr val="dk2"/>
                </a:solidFill>
              </a:rPr>
              <a:t> selektora koji se koristi (</a:t>
            </a:r>
            <a:r>
              <a:rPr b="1" lang="en" sz="1600">
                <a:solidFill>
                  <a:schemeClr val="dk2"/>
                </a:solidFill>
              </a:rPr>
              <a:t>By.ID</a:t>
            </a:r>
            <a:r>
              <a:rPr lang="en" sz="1600">
                <a:solidFill>
                  <a:schemeClr val="dk2"/>
                </a:solidFill>
              </a:rPr>
              <a:t>)</a:t>
            </a:r>
            <a:endParaRPr sz="1600">
              <a:solidFill>
                <a:schemeClr val="dk2"/>
              </a:solidFill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</a:pPr>
            <a:r>
              <a:rPr b="1" lang="en" sz="1600">
                <a:solidFill>
                  <a:schemeClr val="dk2"/>
                </a:solidFill>
              </a:rPr>
              <a:t>v</a:t>
            </a:r>
            <a:r>
              <a:rPr b="1" lang="en" sz="1600">
                <a:solidFill>
                  <a:schemeClr val="dk2"/>
                </a:solidFill>
              </a:rPr>
              <a:t>rednost</a:t>
            </a:r>
            <a:r>
              <a:rPr lang="en" sz="1600">
                <a:solidFill>
                  <a:schemeClr val="dk2"/>
                </a:solidFill>
              </a:rPr>
              <a:t> selektora (“username”, “pasword”)</a:t>
            </a:r>
            <a:endParaRPr sz="1600">
              <a:solidFill>
                <a:schemeClr val="dk2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</a:pPr>
            <a:r>
              <a:rPr lang="en" sz="1600">
                <a:solidFill>
                  <a:schemeClr val="dk2"/>
                </a:solidFill>
              </a:rPr>
              <a:t>Povratna vrednost ove metode je </a:t>
            </a:r>
            <a:r>
              <a:rPr b="1" lang="en" sz="1600">
                <a:solidFill>
                  <a:schemeClr val="dk2"/>
                </a:solidFill>
              </a:rPr>
              <a:t>WebElement</a:t>
            </a:r>
            <a:endParaRPr b="1" sz="1600">
              <a:solidFill>
                <a:schemeClr val="dk2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</a:pPr>
            <a:r>
              <a:rPr lang="en" sz="1600">
                <a:solidFill>
                  <a:schemeClr val="dk2"/>
                </a:solidFill>
              </a:rPr>
              <a:t>Ukoliko se ne pronađe element funkcija baca </a:t>
            </a:r>
            <a:r>
              <a:rPr b="1" lang="en" sz="1600">
                <a:solidFill>
                  <a:schemeClr val="dk2"/>
                </a:solidFill>
              </a:rPr>
              <a:t>NoSuchElementException</a:t>
            </a:r>
            <a:endParaRPr b="1"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b="1" lang="en" sz="1600">
                <a:solidFill>
                  <a:schemeClr val="dk2"/>
                </a:solidFill>
              </a:rPr>
              <a:t>By </a:t>
            </a:r>
            <a:r>
              <a:rPr lang="en" sz="1600">
                <a:solidFill>
                  <a:schemeClr val="dk2"/>
                </a:solidFill>
              </a:rPr>
              <a:t>klasa nudi veliki broj lokatora (sledeći </a:t>
            </a:r>
            <a:r>
              <a:rPr b="1" lang="en" sz="1600">
                <a:solidFill>
                  <a:schemeClr val="dk2"/>
                </a:solidFill>
              </a:rPr>
              <a:t>slajd</a:t>
            </a:r>
            <a:r>
              <a:rPr lang="en" sz="1600">
                <a:solidFill>
                  <a:schemeClr val="dk2"/>
                </a:solidFill>
              </a:rPr>
              <a:t> su neki od njih)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7"/>
          <p:cNvSpPr txBox="1"/>
          <p:nvPr>
            <p:ph type="title"/>
          </p:nvPr>
        </p:nvSpPr>
        <p:spPr>
          <a:xfrm>
            <a:off x="311700" y="146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Lokatori</a:t>
            </a:r>
            <a:endParaRPr/>
          </a:p>
        </p:txBody>
      </p:sp>
      <p:graphicFrame>
        <p:nvGraphicFramePr>
          <p:cNvPr id="201" name="Google Shape;201;p37"/>
          <p:cNvGraphicFramePr/>
          <p:nvPr/>
        </p:nvGraphicFramePr>
        <p:xfrm>
          <a:off x="311700" y="719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{2FA9375C-4C12-41E0-8A3E-6199B5BEDC28}</a:tableStyleId>
              </a:tblPr>
              <a:tblGrid>
                <a:gridCol w="4260300"/>
                <a:gridCol w="4260300"/>
              </a:tblGrid>
              <a:tr h="336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Lokator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Opis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36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By.ID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Pronalazi element na osnovu njegovog ID atributa.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36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By.NAME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Pronalazi element na osnovu njegovog NAME atributa.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36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By.XPATH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Pronalazi element na osnovu XPath izraza.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36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By.LINK_TEXT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Pronalazi hyperlink element na osnovu teksta linka (celog teksta).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36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By.PARTIAL_LINK_TEXT	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Pronalazi hyperlink element na osnovu delimičnog teksta linka.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36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By.TAG_NAME	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Pronalazi elemente na osnovu njihove HTML oznake (tag).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36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By.CLASS_NAME	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Pronalazi elemente na osnovu njihove CSS klase.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36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By.CSS_SELECTOR	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Pronalazi elemente na osnovu CSS selektora.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Lokatori (primeri)</a:t>
            </a:r>
            <a:endParaRPr/>
          </a:p>
        </p:txBody>
      </p:sp>
      <p:sp>
        <p:nvSpPr>
          <p:cNvPr id="207" name="Google Shape;207;p38"/>
          <p:cNvSpPr txBox="1"/>
          <p:nvPr>
            <p:ph idx="1" type="body"/>
          </p:nvPr>
        </p:nvSpPr>
        <p:spPr>
          <a:xfrm>
            <a:off x="311700" y="1152475"/>
            <a:ext cx="8520600" cy="37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Lociranje na osnovu </a:t>
            </a:r>
            <a:r>
              <a:rPr b="1" lang="en"/>
              <a:t>ID-a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100">
                <a:solidFill>
                  <a:srgbClr val="007700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&lt;a</a:t>
            </a: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100">
                <a:solidFill>
                  <a:srgbClr val="0000CC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id=</a:t>
            </a:r>
            <a:r>
              <a:rPr lang="en" sz="1100">
                <a:solidFill>
                  <a:srgbClr val="333333"/>
                </a:solidFill>
                <a:highlight>
                  <a:srgbClr val="FFF0F0"/>
                </a:highlight>
                <a:latin typeface="Verdana"/>
                <a:ea typeface="Verdana"/>
                <a:cs typeface="Verdana"/>
                <a:sym typeface="Verdana"/>
              </a:rPr>
              <a:t>"change-password"</a:t>
            </a: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100">
                <a:solidFill>
                  <a:srgbClr val="0000CC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class=</a:t>
            </a:r>
            <a:r>
              <a:rPr lang="en" sz="1100">
                <a:solidFill>
                  <a:srgbClr val="333333"/>
                </a:solidFill>
                <a:highlight>
                  <a:srgbClr val="FFF0F0"/>
                </a:highlight>
                <a:latin typeface="Verdana"/>
                <a:ea typeface="Verdana"/>
                <a:cs typeface="Verdana"/>
                <a:sym typeface="Verdana"/>
              </a:rPr>
              <a:t>"btn"</a:t>
            </a: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100">
                <a:solidFill>
                  <a:srgbClr val="0000CC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href=</a:t>
            </a:r>
            <a:r>
              <a:rPr lang="en" sz="1100">
                <a:solidFill>
                  <a:srgbClr val="333333"/>
                </a:solidFill>
                <a:highlight>
                  <a:srgbClr val="FFF0F0"/>
                </a:highlight>
                <a:latin typeface="Verdana"/>
                <a:ea typeface="Verdana"/>
                <a:cs typeface="Verdana"/>
                <a:sym typeface="Verdana"/>
              </a:rPr>
              <a:t>"#"</a:t>
            </a:r>
            <a:r>
              <a:rPr lang="en" sz="1100">
                <a:solidFill>
                  <a:srgbClr val="007700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&gt;</a:t>
            </a: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Forgotten Password</a:t>
            </a:r>
            <a:r>
              <a:rPr lang="en" sz="1100">
                <a:solidFill>
                  <a:srgbClr val="007700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&lt;/a&gt; - HTML</a:t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element = browser.find_element(By.ID, </a:t>
            </a:r>
            <a:r>
              <a:rPr lang="en" sz="1100">
                <a:solidFill>
                  <a:srgbClr val="333333"/>
                </a:solidFill>
                <a:highlight>
                  <a:srgbClr val="FFF0F0"/>
                </a:highlight>
                <a:latin typeface="Verdana"/>
                <a:ea typeface="Verdana"/>
                <a:cs typeface="Verdana"/>
                <a:sym typeface="Verdana"/>
              </a:rPr>
              <a:t>"change-password"</a:t>
            </a: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) - Python </a:t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Lociranje na osnovu </a:t>
            </a:r>
            <a:r>
              <a:rPr b="1" lang="en"/>
              <a:t>NAME</a:t>
            </a:r>
            <a:r>
              <a:rPr lang="en"/>
              <a:t> atributa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&lt;</a:t>
            </a:r>
            <a:r>
              <a:rPr lang="en" sz="1100">
                <a:solidFill>
                  <a:srgbClr val="007020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input</a:t>
            </a: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class=</a:t>
            </a:r>
            <a:r>
              <a:rPr lang="en" sz="1100">
                <a:solidFill>
                  <a:srgbClr val="333333"/>
                </a:solidFill>
                <a:highlight>
                  <a:srgbClr val="FFF0F0"/>
                </a:highlight>
                <a:latin typeface="Verdana"/>
                <a:ea typeface="Verdana"/>
                <a:cs typeface="Verdana"/>
                <a:sym typeface="Verdana"/>
              </a:rPr>
              <a:t>"form-control"</a:t>
            </a: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name=</a:t>
            </a:r>
            <a:r>
              <a:rPr lang="en" sz="1100">
                <a:solidFill>
                  <a:srgbClr val="333333"/>
                </a:solidFill>
                <a:highlight>
                  <a:srgbClr val="FFF0F0"/>
                </a:highlight>
                <a:latin typeface="Verdana"/>
                <a:ea typeface="Verdana"/>
                <a:cs typeface="Verdana"/>
                <a:sym typeface="Verdana"/>
              </a:rPr>
              <a:t>"email"</a:t>
            </a: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100">
                <a:solidFill>
                  <a:srgbClr val="007020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type</a:t>
            </a: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=</a:t>
            </a:r>
            <a:r>
              <a:rPr lang="en" sz="1100">
                <a:solidFill>
                  <a:srgbClr val="333333"/>
                </a:solidFill>
                <a:highlight>
                  <a:srgbClr val="FFF0F0"/>
                </a:highlight>
                <a:latin typeface="Verdana"/>
                <a:ea typeface="Verdana"/>
                <a:cs typeface="Verdana"/>
                <a:sym typeface="Verdana"/>
              </a:rPr>
              <a:t>"text"</a:t>
            </a: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placeholder=</a:t>
            </a:r>
            <a:r>
              <a:rPr lang="en" sz="1100">
                <a:solidFill>
                  <a:srgbClr val="333333"/>
                </a:solidFill>
                <a:highlight>
                  <a:srgbClr val="FFF0F0"/>
                </a:highlight>
                <a:latin typeface="Verdana"/>
                <a:ea typeface="Verdana"/>
                <a:cs typeface="Verdana"/>
                <a:sym typeface="Verdana"/>
              </a:rPr>
              <a:t>"Email"</a:t>
            </a: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/&gt; - HTML</a:t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Verdana"/>
              <a:buChar char="○"/>
            </a:pP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element = browser.find_element(By.NAME, </a:t>
            </a:r>
            <a:r>
              <a:rPr lang="en" sz="1100">
                <a:solidFill>
                  <a:srgbClr val="333333"/>
                </a:solidFill>
                <a:highlight>
                  <a:srgbClr val="FFF0F0"/>
                </a:highlight>
                <a:latin typeface="Verdana"/>
                <a:ea typeface="Verdana"/>
                <a:cs typeface="Verdana"/>
                <a:sym typeface="Verdana"/>
              </a:rPr>
              <a:t>"email"</a:t>
            </a: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) - Python</a:t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Lociranje na osnovu HTML </a:t>
            </a:r>
            <a:r>
              <a:rPr b="1" lang="en"/>
              <a:t>taga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100">
                <a:solidFill>
                  <a:srgbClr val="007700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&lt;h1&gt;</a:t>
            </a: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Welcome to SDET World!</a:t>
            </a:r>
            <a:r>
              <a:rPr lang="en" sz="1100">
                <a:solidFill>
                  <a:srgbClr val="007700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&lt;/h1&gt;</a:t>
            </a: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- HTML</a:t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Verdana"/>
              <a:buChar char="○"/>
            </a:pP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element = browser.find_element(By.TAG, </a:t>
            </a:r>
            <a:r>
              <a:rPr lang="en" sz="1100">
                <a:solidFill>
                  <a:srgbClr val="333333"/>
                </a:solidFill>
                <a:highlight>
                  <a:srgbClr val="FFF0F0"/>
                </a:highlight>
                <a:latin typeface="Verdana"/>
                <a:ea typeface="Verdana"/>
                <a:cs typeface="Verdana"/>
                <a:sym typeface="Verdana"/>
              </a:rPr>
              <a:t>"h1"</a:t>
            </a: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) - Python</a:t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marR="228600" rtl="0" algn="l">
              <a:lnSpc>
                <a:spcPct val="110795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Lokatori</a:t>
            </a:r>
            <a:endParaRPr/>
          </a:p>
        </p:txBody>
      </p:sp>
      <p:sp>
        <p:nvSpPr>
          <p:cNvPr id="213" name="Google Shape;213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Lociranje na osnovu </a:t>
            </a:r>
            <a:r>
              <a:rPr b="1" lang="en"/>
              <a:t>CSS selektora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100">
                <a:solidFill>
                  <a:srgbClr val="007700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&lt;a</a:t>
            </a: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100">
                <a:solidFill>
                  <a:srgbClr val="0000CC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id=</a:t>
            </a:r>
            <a:r>
              <a:rPr lang="en" sz="1100">
                <a:solidFill>
                  <a:srgbClr val="333333"/>
                </a:solidFill>
                <a:highlight>
                  <a:srgbClr val="FFF0F0"/>
                </a:highlight>
                <a:latin typeface="Verdana"/>
                <a:ea typeface="Verdana"/>
                <a:cs typeface="Verdana"/>
                <a:sym typeface="Verdana"/>
              </a:rPr>
              <a:t>"change-password"</a:t>
            </a: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100">
                <a:solidFill>
                  <a:srgbClr val="0000CC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class=</a:t>
            </a:r>
            <a:r>
              <a:rPr lang="en" sz="1100">
                <a:solidFill>
                  <a:srgbClr val="333333"/>
                </a:solidFill>
                <a:highlight>
                  <a:srgbClr val="FFF0F0"/>
                </a:highlight>
                <a:latin typeface="Verdana"/>
                <a:ea typeface="Verdana"/>
                <a:cs typeface="Verdana"/>
                <a:sym typeface="Verdana"/>
              </a:rPr>
              <a:t>"btn"</a:t>
            </a: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100">
                <a:solidFill>
                  <a:srgbClr val="0000CC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href=</a:t>
            </a:r>
            <a:r>
              <a:rPr lang="en" sz="1100">
                <a:solidFill>
                  <a:srgbClr val="333333"/>
                </a:solidFill>
                <a:highlight>
                  <a:srgbClr val="FFF0F0"/>
                </a:highlight>
                <a:latin typeface="Verdana"/>
                <a:ea typeface="Verdana"/>
                <a:cs typeface="Verdana"/>
                <a:sym typeface="Verdana"/>
              </a:rPr>
              <a:t>"./some-link"</a:t>
            </a:r>
            <a:r>
              <a:rPr lang="en" sz="1100">
                <a:solidFill>
                  <a:srgbClr val="007700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&gt;</a:t>
            </a: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Forgotten Password</a:t>
            </a:r>
            <a:r>
              <a:rPr lang="en" sz="1100">
                <a:solidFill>
                  <a:srgbClr val="007700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&lt;/a&gt; - HTML</a:t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marR="22860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element = browser.find_element(By.CSS_SELECTOR, </a:t>
            </a:r>
            <a:r>
              <a:rPr lang="en" sz="1100">
                <a:solidFill>
                  <a:srgbClr val="333333"/>
                </a:solidFill>
                <a:highlight>
                  <a:srgbClr val="FFF0F0"/>
                </a:highlight>
                <a:latin typeface="Verdana"/>
                <a:ea typeface="Verdana"/>
                <a:cs typeface="Verdana"/>
                <a:sym typeface="Verdana"/>
              </a:rPr>
              <a:t>"#change-password"</a:t>
            </a: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)</a:t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22860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Lociranje na osnovu </a:t>
            </a:r>
            <a:r>
              <a:rPr b="1" lang="en"/>
              <a:t>XPath-a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100">
                <a:solidFill>
                  <a:srgbClr val="007700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&lt;a</a:t>
            </a: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100">
                <a:solidFill>
                  <a:srgbClr val="0000CC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id=</a:t>
            </a:r>
            <a:r>
              <a:rPr lang="en" sz="1100">
                <a:solidFill>
                  <a:srgbClr val="333333"/>
                </a:solidFill>
                <a:highlight>
                  <a:srgbClr val="FFF0F0"/>
                </a:highlight>
                <a:latin typeface="Verdana"/>
                <a:ea typeface="Verdana"/>
                <a:cs typeface="Verdana"/>
                <a:sym typeface="Verdana"/>
              </a:rPr>
              <a:t>"change-password"</a:t>
            </a: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100">
                <a:solidFill>
                  <a:srgbClr val="0000CC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href=</a:t>
            </a:r>
            <a:r>
              <a:rPr lang="en" sz="1100">
                <a:solidFill>
                  <a:srgbClr val="333333"/>
                </a:solidFill>
                <a:highlight>
                  <a:srgbClr val="FFF0F0"/>
                </a:highlight>
                <a:latin typeface="Verdana"/>
                <a:ea typeface="Verdana"/>
                <a:cs typeface="Verdana"/>
                <a:sym typeface="Verdana"/>
              </a:rPr>
              <a:t>"#"</a:t>
            </a:r>
            <a:r>
              <a:rPr lang="en" sz="1100">
                <a:solidFill>
                  <a:srgbClr val="007700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&gt;</a:t>
            </a: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Change Password</a:t>
            </a:r>
            <a:r>
              <a:rPr lang="en" sz="1100">
                <a:solidFill>
                  <a:srgbClr val="007700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&lt;/a&gt; - HTML</a:t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marR="22860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element = browser.find_element(By.XPATH, </a:t>
            </a:r>
            <a:r>
              <a:rPr lang="en" sz="1100">
                <a:solidFill>
                  <a:srgbClr val="333333"/>
                </a:solidFill>
                <a:highlight>
                  <a:srgbClr val="FFF0F0"/>
                </a:highlight>
                <a:latin typeface="Verdana"/>
                <a:ea typeface="Verdana"/>
                <a:cs typeface="Verdana"/>
                <a:sym typeface="Verdana"/>
              </a:rPr>
              <a:t>"//a[@id='change-password']"</a:t>
            </a: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) - Python</a:t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22860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Lociranje na osnovu </a:t>
            </a:r>
            <a:r>
              <a:rPr b="1" lang="en"/>
              <a:t>klase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100">
                <a:solidFill>
                  <a:srgbClr val="007700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&lt;a</a:t>
            </a: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100">
                <a:solidFill>
                  <a:srgbClr val="0000CC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id=</a:t>
            </a:r>
            <a:r>
              <a:rPr lang="en" sz="1100">
                <a:solidFill>
                  <a:srgbClr val="333333"/>
                </a:solidFill>
                <a:highlight>
                  <a:srgbClr val="FFF0F0"/>
                </a:highlight>
                <a:latin typeface="Verdana"/>
                <a:ea typeface="Verdana"/>
                <a:cs typeface="Verdana"/>
                <a:sym typeface="Verdana"/>
              </a:rPr>
              <a:t>"change-password"</a:t>
            </a: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100">
                <a:solidFill>
                  <a:srgbClr val="0000CC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class=</a:t>
            </a:r>
            <a:r>
              <a:rPr lang="en" sz="1100">
                <a:solidFill>
                  <a:srgbClr val="333333"/>
                </a:solidFill>
                <a:highlight>
                  <a:srgbClr val="FFF0F0"/>
                </a:highlight>
                <a:latin typeface="Verdana"/>
                <a:ea typeface="Verdana"/>
                <a:cs typeface="Verdana"/>
                <a:sym typeface="Verdana"/>
              </a:rPr>
              <a:t>"btn"</a:t>
            </a: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100">
                <a:solidFill>
                  <a:srgbClr val="0000CC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href=</a:t>
            </a:r>
            <a:r>
              <a:rPr lang="en" sz="1100">
                <a:solidFill>
                  <a:srgbClr val="333333"/>
                </a:solidFill>
                <a:highlight>
                  <a:srgbClr val="FFF0F0"/>
                </a:highlight>
                <a:latin typeface="Verdana"/>
                <a:ea typeface="Verdana"/>
                <a:cs typeface="Verdana"/>
                <a:sym typeface="Verdana"/>
              </a:rPr>
              <a:t>"./some-link"</a:t>
            </a:r>
            <a:r>
              <a:rPr lang="en" sz="1100">
                <a:solidFill>
                  <a:srgbClr val="007700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&gt;</a:t>
            </a: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Forgotten Password</a:t>
            </a:r>
            <a:r>
              <a:rPr lang="en" sz="1100">
                <a:solidFill>
                  <a:srgbClr val="007700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&lt;/a&gt; - HTML</a:t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marR="22860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element = browser.find_element(By.CLASS_NAME, </a:t>
            </a:r>
            <a:r>
              <a:rPr lang="en" sz="1100">
                <a:solidFill>
                  <a:srgbClr val="333333"/>
                </a:solidFill>
                <a:highlight>
                  <a:srgbClr val="FFF0F0"/>
                </a:highlight>
                <a:latin typeface="Verdana"/>
                <a:ea typeface="Verdana"/>
                <a:cs typeface="Verdana"/>
                <a:sym typeface="Verdana"/>
              </a:rPr>
              <a:t>"btn"</a:t>
            </a: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) - Python</a:t>
            </a:r>
            <a:endParaRPr b="1"/>
          </a:p>
          <a:p>
            <a:pPr indent="0" lvl="0" marL="0" marR="22860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22860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Lokatori</a:t>
            </a:r>
            <a:endParaRPr/>
          </a:p>
        </p:txBody>
      </p:sp>
      <p:sp>
        <p:nvSpPr>
          <p:cNvPr id="219" name="Google Shape;219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Lociranje na osnovu </a:t>
            </a:r>
            <a:r>
              <a:rPr b="1" lang="en"/>
              <a:t>teksta linka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100">
                <a:solidFill>
                  <a:srgbClr val="007700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&lt;a</a:t>
            </a: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100">
                <a:solidFill>
                  <a:srgbClr val="0000CC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id=</a:t>
            </a:r>
            <a:r>
              <a:rPr lang="en" sz="1100">
                <a:solidFill>
                  <a:srgbClr val="333333"/>
                </a:solidFill>
                <a:highlight>
                  <a:srgbClr val="FFF0F0"/>
                </a:highlight>
                <a:latin typeface="Verdana"/>
                <a:ea typeface="Verdana"/>
                <a:cs typeface="Verdana"/>
                <a:sym typeface="Verdana"/>
              </a:rPr>
              <a:t>"change-password"</a:t>
            </a: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100">
                <a:solidFill>
                  <a:srgbClr val="0000CC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class=</a:t>
            </a:r>
            <a:r>
              <a:rPr lang="en" sz="1100">
                <a:solidFill>
                  <a:srgbClr val="333333"/>
                </a:solidFill>
                <a:highlight>
                  <a:srgbClr val="FFF0F0"/>
                </a:highlight>
                <a:latin typeface="Verdana"/>
                <a:ea typeface="Verdana"/>
                <a:cs typeface="Verdana"/>
                <a:sym typeface="Verdana"/>
              </a:rPr>
              <a:t>"btn"</a:t>
            </a: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100">
                <a:solidFill>
                  <a:srgbClr val="0000CC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href=</a:t>
            </a:r>
            <a:r>
              <a:rPr lang="en" sz="1100">
                <a:solidFill>
                  <a:srgbClr val="333333"/>
                </a:solidFill>
                <a:highlight>
                  <a:srgbClr val="FFF0F0"/>
                </a:highlight>
                <a:latin typeface="Verdana"/>
                <a:ea typeface="Verdana"/>
                <a:cs typeface="Verdana"/>
                <a:sym typeface="Verdana"/>
              </a:rPr>
              <a:t>"./some-link"</a:t>
            </a:r>
            <a:r>
              <a:rPr lang="en" sz="1100">
                <a:solidFill>
                  <a:srgbClr val="007700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&gt;</a:t>
            </a: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Forgotten Password</a:t>
            </a:r>
            <a:r>
              <a:rPr lang="en" sz="1100">
                <a:solidFill>
                  <a:srgbClr val="007700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&lt;/a&gt; - HTML</a:t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marR="22860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element = browser.find_element(By.LINK_TEXT, </a:t>
            </a:r>
            <a:r>
              <a:rPr lang="en" sz="1100">
                <a:solidFill>
                  <a:srgbClr val="333333"/>
                </a:solidFill>
                <a:highlight>
                  <a:srgbClr val="FFF0F0"/>
                </a:highlight>
                <a:latin typeface="Verdana"/>
                <a:ea typeface="Verdana"/>
                <a:cs typeface="Verdana"/>
                <a:sym typeface="Verdana"/>
              </a:rPr>
              <a:t>"Forgotten Password"</a:t>
            </a: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)</a:t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22860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Lociranje na osnovu </a:t>
            </a:r>
            <a:r>
              <a:rPr b="1" lang="en"/>
              <a:t>delimičnog</a:t>
            </a:r>
            <a:r>
              <a:rPr lang="en"/>
              <a:t> </a:t>
            </a:r>
            <a:r>
              <a:rPr b="1" lang="en"/>
              <a:t>teksta linka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100">
                <a:solidFill>
                  <a:srgbClr val="007700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&lt;a</a:t>
            </a: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100">
                <a:solidFill>
                  <a:srgbClr val="0000CC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id=</a:t>
            </a:r>
            <a:r>
              <a:rPr lang="en" sz="1100">
                <a:solidFill>
                  <a:srgbClr val="333333"/>
                </a:solidFill>
                <a:highlight>
                  <a:srgbClr val="FFF0F0"/>
                </a:highlight>
                <a:latin typeface="Verdana"/>
                <a:ea typeface="Verdana"/>
                <a:cs typeface="Verdana"/>
                <a:sym typeface="Verdana"/>
              </a:rPr>
              <a:t>"change-password"</a:t>
            </a: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100">
                <a:solidFill>
                  <a:srgbClr val="0000CC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class=</a:t>
            </a:r>
            <a:r>
              <a:rPr lang="en" sz="1100">
                <a:solidFill>
                  <a:srgbClr val="333333"/>
                </a:solidFill>
                <a:highlight>
                  <a:srgbClr val="FFF0F0"/>
                </a:highlight>
                <a:latin typeface="Verdana"/>
                <a:ea typeface="Verdana"/>
                <a:cs typeface="Verdana"/>
                <a:sym typeface="Verdana"/>
              </a:rPr>
              <a:t>"btn"</a:t>
            </a: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100">
                <a:solidFill>
                  <a:srgbClr val="0000CC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href=</a:t>
            </a:r>
            <a:r>
              <a:rPr lang="en" sz="1100">
                <a:solidFill>
                  <a:srgbClr val="333333"/>
                </a:solidFill>
                <a:highlight>
                  <a:srgbClr val="FFF0F0"/>
                </a:highlight>
                <a:latin typeface="Verdana"/>
                <a:ea typeface="Verdana"/>
                <a:cs typeface="Verdana"/>
                <a:sym typeface="Verdana"/>
              </a:rPr>
              <a:t>"./some-link"</a:t>
            </a:r>
            <a:r>
              <a:rPr lang="en" sz="1100">
                <a:solidFill>
                  <a:srgbClr val="007700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&gt;</a:t>
            </a: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Forgotten Password</a:t>
            </a:r>
            <a:r>
              <a:rPr lang="en" sz="1100">
                <a:solidFill>
                  <a:srgbClr val="007700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&lt;/a&gt; - HTML</a:t>
            </a:r>
            <a:endParaRPr b="1"/>
          </a:p>
          <a:p>
            <a:pPr indent="-317500" lvl="1" marL="914400" marR="22860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element = browser.find_element(By.LINK_TEXT, </a:t>
            </a:r>
            <a:r>
              <a:rPr lang="en" sz="1100">
                <a:solidFill>
                  <a:srgbClr val="333333"/>
                </a:solidFill>
                <a:highlight>
                  <a:srgbClr val="FFF0F0"/>
                </a:highlight>
                <a:latin typeface="Verdana"/>
                <a:ea typeface="Verdana"/>
                <a:cs typeface="Verdana"/>
                <a:sym typeface="Verdana"/>
              </a:rPr>
              <a:t>"Forgotten "</a:t>
            </a: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) - Python</a:t>
            </a:r>
            <a:endParaRPr b="1"/>
          </a:p>
          <a:p>
            <a:pPr indent="0" lvl="0" marL="0" marR="22860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Lokatori (hint)!</a:t>
            </a:r>
            <a:endParaRPr/>
          </a:p>
        </p:txBody>
      </p:sp>
      <p:sp>
        <p:nvSpPr>
          <p:cNvPr id="225" name="Google Shape;225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Ukoliko želimo da pronađemo element koji sadrži specifičan </a:t>
            </a:r>
            <a:r>
              <a:rPr b="1" lang="en"/>
              <a:t>tekst</a:t>
            </a:r>
            <a:r>
              <a:rPr lang="en"/>
              <a:t> a pritom da taj element ne mora da bude link: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Koristiti By.</a:t>
            </a:r>
            <a:r>
              <a:rPr b="1" lang="en"/>
              <a:t>XPATH</a:t>
            </a:r>
            <a:r>
              <a:rPr lang="en"/>
              <a:t> lokator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Kao argument proslediti string </a:t>
            </a:r>
            <a:r>
              <a:rPr b="1" lang="en"/>
              <a:t>"//*[text()='uneti_tekst_koji_vam_treba']"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Primer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Pronađi element koji u sebi sadrži tekst </a:t>
            </a:r>
            <a:r>
              <a:rPr b="1" lang="en" u="sng">
                <a:solidFill>
                  <a:schemeClr val="hlink"/>
                </a:solidFill>
                <a:hlinkClick r:id="rId3"/>
              </a:rPr>
              <a:t>root@root.com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element = browser.find_element(By.XPATH, </a:t>
            </a:r>
            <a:r>
              <a:rPr lang="en" sz="1100">
                <a:solidFill>
                  <a:srgbClr val="333333"/>
                </a:solidFill>
                <a:highlight>
                  <a:srgbClr val="FFF0F0"/>
                </a:highlight>
                <a:latin typeface="Verdana"/>
                <a:ea typeface="Verdana"/>
                <a:cs typeface="Verdana"/>
                <a:sym typeface="Verdana"/>
              </a:rPr>
              <a:t>"//*[text()='</a:t>
            </a:r>
            <a:r>
              <a:rPr lang="en" sz="1100" u="sng">
                <a:solidFill>
                  <a:schemeClr val="hlink"/>
                </a:solidFill>
                <a:highlight>
                  <a:srgbClr val="FFF0F0"/>
                </a:highlight>
                <a:latin typeface="Verdana"/>
                <a:ea typeface="Verdana"/>
                <a:cs typeface="Verdana"/>
                <a:sym typeface="Verdana"/>
                <a:hlinkClick r:id="rId4"/>
              </a:rPr>
              <a:t>root@root.com</a:t>
            </a:r>
            <a:r>
              <a:rPr lang="en" sz="1100">
                <a:solidFill>
                  <a:srgbClr val="333333"/>
                </a:solidFill>
                <a:highlight>
                  <a:srgbClr val="FFF0F0"/>
                </a:highlight>
                <a:latin typeface="Verdana"/>
                <a:ea typeface="Verdana"/>
                <a:cs typeface="Verdana"/>
                <a:sym typeface="Verdana"/>
              </a:rPr>
              <a:t>']"</a:t>
            </a: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) - Python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Kako da pronađem </a:t>
            </a:r>
            <a:r>
              <a:rPr lang="en"/>
              <a:t>selektore</a:t>
            </a:r>
            <a:r>
              <a:rPr lang="en"/>
              <a:t>?</a:t>
            </a:r>
            <a:endParaRPr/>
          </a:p>
        </p:txBody>
      </p:sp>
      <p:sp>
        <p:nvSpPr>
          <p:cNvPr id="231" name="Google Shape;231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Prvo pogledati da li postoje atributi za selektovanje koji su navedeni iznad poput ID, Klase, name …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Ovo možemo postići tako što ćemo </a:t>
            </a:r>
            <a:r>
              <a:rPr b="1" lang="en"/>
              <a:t>inspect</a:t>
            </a:r>
            <a:r>
              <a:rPr lang="en"/>
              <a:t> aplikaciju unutar web pretraživača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Na sledećim slajdovima se nalaze koraci kako da se inspect web aplikacija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Inspect</a:t>
            </a:r>
            <a:endParaRPr/>
          </a:p>
        </p:txBody>
      </p:sp>
      <p:pic>
        <p:nvPicPr>
          <p:cNvPr id="237" name="Google Shape;23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4" cy="371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Inspect - 2 korak</a:t>
            </a:r>
            <a:endParaRPr/>
          </a:p>
        </p:txBody>
      </p:sp>
      <p:pic>
        <p:nvPicPr>
          <p:cNvPr id="243" name="Google Shape;24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975" y="1158850"/>
            <a:ext cx="7568046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Inspect - 3 korak</a:t>
            </a:r>
            <a:endParaRPr/>
          </a:p>
        </p:txBody>
      </p:sp>
      <p:pic>
        <p:nvPicPr>
          <p:cNvPr id="249" name="Google Shape;24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7525" y="1203975"/>
            <a:ext cx="4884769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45"/>
          <p:cNvSpPr txBox="1"/>
          <p:nvPr/>
        </p:nvSpPr>
        <p:spPr>
          <a:xfrm>
            <a:off x="487250" y="1203975"/>
            <a:ext cx="3102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Kliknuti na </a:t>
            </a:r>
            <a:r>
              <a:rPr b="1" lang="en" sz="1800">
                <a:solidFill>
                  <a:schemeClr val="dk2"/>
                </a:solidFill>
              </a:rPr>
              <a:t>inspect</a:t>
            </a:r>
            <a:r>
              <a:rPr lang="en" sz="1800">
                <a:solidFill>
                  <a:schemeClr val="dk2"/>
                </a:solidFill>
              </a:rPr>
              <a:t> dugme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 </a:t>
            </a:r>
            <a:r>
              <a:rPr b="1" lang="en" sz="1800">
                <a:solidFill>
                  <a:schemeClr val="dk2"/>
                </a:solidFill>
              </a:rPr>
              <a:t>gornjem levom </a:t>
            </a:r>
            <a:r>
              <a:rPr lang="en" sz="1800">
                <a:solidFill>
                  <a:schemeClr val="dk2"/>
                </a:solidFill>
              </a:rPr>
              <a:t>uglu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da odaberemo element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lang="en" sz="1800">
                <a:solidFill>
                  <a:schemeClr val="dk2"/>
                </a:solidFill>
              </a:rPr>
              <a:t>oji želimo da istražimo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Inspect - korak 4 </a:t>
            </a:r>
            <a:endParaRPr/>
          </a:p>
        </p:txBody>
      </p:sp>
      <p:pic>
        <p:nvPicPr>
          <p:cNvPr id="256" name="Google Shape;25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2675" y="1017725"/>
            <a:ext cx="4884769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46"/>
          <p:cNvSpPr txBox="1"/>
          <p:nvPr/>
        </p:nvSpPr>
        <p:spPr>
          <a:xfrm>
            <a:off x="566225" y="1301675"/>
            <a:ext cx="6497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Kliknuti na element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koji smo odabrali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Korak 5 - nakon klika elementa</a:t>
            </a:r>
            <a:endParaRPr/>
          </a:p>
        </p:txBody>
      </p:sp>
      <p:pic>
        <p:nvPicPr>
          <p:cNvPr id="263" name="Google Shape;26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396" y="1141200"/>
            <a:ext cx="8169204" cy="387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Korak 5</a:t>
            </a:r>
            <a:endParaRPr/>
          </a:p>
        </p:txBody>
      </p:sp>
      <p:sp>
        <p:nvSpPr>
          <p:cNvPr id="269" name="Google Shape;269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Nakon klika </a:t>
            </a:r>
            <a:r>
              <a:rPr lang="en"/>
              <a:t>elementa unutar inspektora zadati element će se istaknuti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desnim klikom na taj element pruža nam se opcija da kopiramo različite selektore za element uz pomoć kojih ćemo moći da selektrujemo element unutar testova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Interakcija</a:t>
            </a:r>
            <a:endParaRPr/>
          </a:p>
        </p:txBody>
      </p:sp>
      <p:sp>
        <p:nvSpPr>
          <p:cNvPr id="275" name="Google Shape;275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Selenium WebDriver nam omogućava direktnu interakciju sa elementima HTML stranice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Text Box Interaction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Radio Button Selection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Drop Down Item Selection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Check Box Selection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Drag &amp; Drop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Keyboard Actions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Mouse Actions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Keyboard i mouse interakcija</a:t>
            </a:r>
            <a:endParaRPr/>
          </a:p>
        </p:txBody>
      </p:sp>
      <p:sp>
        <p:nvSpPr>
          <p:cNvPr id="281" name="Google Shape;281;p50"/>
          <p:cNvSpPr txBox="1"/>
          <p:nvPr>
            <p:ph idx="1" type="body"/>
          </p:nvPr>
        </p:nvSpPr>
        <p:spPr>
          <a:xfrm>
            <a:off x="311700" y="1152475"/>
            <a:ext cx="8520600" cy="17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Postoje određene metode koje se pozivaju nad pronađenim elementom za </a:t>
            </a:r>
            <a:r>
              <a:rPr b="1" lang="en"/>
              <a:t>keyboard </a:t>
            </a:r>
            <a:r>
              <a:rPr lang="en"/>
              <a:t>i </a:t>
            </a:r>
            <a:r>
              <a:rPr b="1" lang="en"/>
              <a:t>mouse</a:t>
            </a:r>
            <a:r>
              <a:rPr lang="en"/>
              <a:t> interakciju.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Za složenije interakcije koristi se klasa </a:t>
            </a:r>
            <a:r>
              <a:rPr b="1" lang="en"/>
              <a:t>ActionChains</a:t>
            </a:r>
            <a:endParaRPr/>
          </a:p>
        </p:txBody>
      </p:sp>
      <p:graphicFrame>
        <p:nvGraphicFramePr>
          <p:cNvPr id="282" name="Google Shape;282;p50"/>
          <p:cNvGraphicFramePr/>
          <p:nvPr/>
        </p:nvGraphicFramePr>
        <p:xfrm>
          <a:off x="311700" y="301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{2FA9375C-4C12-41E0-8A3E-6199B5BEDC28}</a:tableStyleId>
              </a:tblPr>
              <a:tblGrid>
                <a:gridCol w="4260300"/>
                <a:gridCol w="4260300"/>
              </a:tblGrid>
              <a:tr h="336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Akcija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Opis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36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element.send_keys(“neki tekst”)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Simulira unošenje teksta ili kombinaciju tastera u aktivni element.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36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element.click()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Simulira klik na element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